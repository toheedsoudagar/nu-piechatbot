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2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046" autoAdjust="0"/>
  </p:normalViewPr>
  <p:slideViewPr>
    <p:cSldViewPr snapToGrid="0">
      <p:cViewPr varScale="1">
        <p:scale>
          <a:sx n="67" d="100"/>
          <a:sy n="67" d="100"/>
        </p:scale>
        <p:origin x="126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7405EA-9F1E-4DF9-9279-E4B76188429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57CF5-77D9-4603-9FDC-205924B90E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216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57CF5-77D9-4603-9FDC-205924B90EF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532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Power BI is your JAM then FABRIC is your go to platform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Get data into Fabric - Data Engineering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Prepare Data – Data Transformation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Data Visualization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Data Security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Data Privacy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57CF5-77D9-4603-9FDC-205924B90EF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122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745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28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194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667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416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047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849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9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46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082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934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8146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747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517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78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915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20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58A0D72-9301-494E-9751-4CF04237A3A1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99FCB-A1E9-4AB5-9613-3FB3F6FEA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8643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349F80-1985-1083-CCB5-E5F09F37DB60}"/>
              </a:ext>
            </a:extLst>
          </p:cNvPr>
          <p:cNvSpPr txBox="1"/>
          <p:nvPr/>
        </p:nvSpPr>
        <p:spPr>
          <a:xfrm>
            <a:off x="1986117" y="1976284"/>
            <a:ext cx="109531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Fabric Not So Fabric </a:t>
            </a:r>
            <a:endParaRPr lang="en-IN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36ED51-CDEC-632B-103A-5894F8718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20" y="3200958"/>
            <a:ext cx="1520219" cy="13301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4F5A56-1352-33C5-17A5-53C934C31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005" y="3200958"/>
            <a:ext cx="2305125" cy="133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733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C73D8-D9B0-658B-EECD-56EC767D5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A288C8-0062-229C-FCFF-2CC75D7250B3}"/>
              </a:ext>
            </a:extLst>
          </p:cNvPr>
          <p:cNvSpPr txBox="1"/>
          <p:nvPr/>
        </p:nvSpPr>
        <p:spPr>
          <a:xfrm>
            <a:off x="609600" y="481781"/>
            <a:ext cx="10953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Architecture Principles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3A059-1FBC-0210-6E14-057C08E65535}"/>
              </a:ext>
            </a:extLst>
          </p:cNvPr>
          <p:cNvSpPr txBox="1"/>
          <p:nvPr/>
        </p:nvSpPr>
        <p:spPr>
          <a:xfrm>
            <a:off x="290051" y="1268361"/>
            <a:ext cx="1161189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Source of Truth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Data Consistency &amp; Integrity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Data should be accurate, complete, and reliable across systems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Use referential integrity, constraints, validation rules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Scalability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Volume (more data)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Velocity (faster ingestion)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Variety (new data types: logs, unstructured, APIs)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Security &amp; Privacy by Design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/>
              <a:t>RBAC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/>
              <a:t>DPDP / GDPR / CCPA / HIPPA compliances 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Interoperability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Governance &amp; Stewardship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Operational Excellence </a:t>
            </a:r>
          </a:p>
        </p:txBody>
      </p:sp>
    </p:spTree>
    <p:extLst>
      <p:ext uri="{BB962C8B-B14F-4D97-AF65-F5344CB8AC3E}">
        <p14:creationId xmlns:p14="http://schemas.microsoft.com/office/powerpoint/2010/main" val="3356572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79D6-25DE-4E9E-46BE-BD4FDAB3C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488060-F310-55F8-ECDF-30765F69555A}"/>
              </a:ext>
            </a:extLst>
          </p:cNvPr>
          <p:cNvSpPr txBox="1"/>
          <p:nvPr/>
        </p:nvSpPr>
        <p:spPr>
          <a:xfrm>
            <a:off x="609600" y="481781"/>
            <a:ext cx="10953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Architecture Paradigm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531F6-E8E1-080B-AC04-C7ADFDEF1797}"/>
              </a:ext>
            </a:extLst>
          </p:cNvPr>
          <p:cNvSpPr txBox="1"/>
          <p:nvPr/>
        </p:nvSpPr>
        <p:spPr>
          <a:xfrm>
            <a:off x="294968" y="1455174"/>
            <a:ext cx="1161189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Datawarehouse – Kimball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Information Reporting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 Lake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 marts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 Lakehouse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Fabric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Streaming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Semantic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Microservices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6187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97B68-219C-2C65-7BB0-7634BBAC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78B52C-1A8E-D7C2-7587-0AA79DD23B77}"/>
              </a:ext>
            </a:extLst>
          </p:cNvPr>
          <p:cNvSpPr txBox="1"/>
          <p:nvPr/>
        </p:nvSpPr>
        <p:spPr>
          <a:xfrm>
            <a:off x="619432" y="4017132"/>
            <a:ext cx="109531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Mesh</a:t>
            </a:r>
            <a:r>
              <a:rPr lang="en-US" dirty="0"/>
              <a:t> is a </a:t>
            </a:r>
            <a:r>
              <a:rPr lang="en-US" b="1" dirty="0"/>
              <a:t>modern, decentralized data architecture</a:t>
            </a:r>
            <a:r>
              <a:rPr lang="en-US" dirty="0"/>
              <a:t> designed to overcome the limitations of traditional centralized data lakes and warehouses</a:t>
            </a:r>
          </a:p>
          <a:p>
            <a:r>
              <a:rPr lang="en-US" dirty="0"/>
              <a:t>             Decentralized ownership in Business Domain  </a:t>
            </a:r>
          </a:p>
          <a:p>
            <a:r>
              <a:rPr lang="en-US" dirty="0"/>
              <a:t>                      Self Service through discovery</a:t>
            </a:r>
          </a:p>
          <a:p>
            <a:r>
              <a:rPr lang="en-US" dirty="0"/>
              <a:t>                              Federated &amp; Governed – Metadata managed , Policy , Privacy </a:t>
            </a:r>
          </a:p>
          <a:p>
            <a:r>
              <a:rPr lang="en-US" dirty="0"/>
              <a:t>                                    DATA as a PRODUCT      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19FBD-3DE3-C215-BA87-80B2D99AEFA6}"/>
              </a:ext>
            </a:extLst>
          </p:cNvPr>
          <p:cNvSpPr txBox="1"/>
          <p:nvPr/>
        </p:nvSpPr>
        <p:spPr>
          <a:xfrm>
            <a:off x="619432" y="477488"/>
            <a:ext cx="10953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Fabric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AD1AF-775E-5004-B803-96F985ACB0C0}"/>
              </a:ext>
            </a:extLst>
          </p:cNvPr>
          <p:cNvSpPr txBox="1"/>
          <p:nvPr/>
        </p:nvSpPr>
        <p:spPr>
          <a:xfrm>
            <a:off x="619432" y="3348195"/>
            <a:ext cx="10953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Mesh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EB5FD6-7D8F-8987-699F-EE5CA02569EB}"/>
              </a:ext>
            </a:extLst>
          </p:cNvPr>
          <p:cNvSpPr txBox="1"/>
          <p:nvPr/>
        </p:nvSpPr>
        <p:spPr>
          <a:xfrm>
            <a:off x="619432" y="1164009"/>
            <a:ext cx="109531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Technology-driven architecture</a:t>
            </a:r>
            <a:r>
              <a:rPr lang="en-US" dirty="0"/>
              <a:t> that provides a </a:t>
            </a:r>
            <a:r>
              <a:rPr lang="en-US" i="1" dirty="0"/>
              <a:t>unified, intelligent, and automated</a:t>
            </a:r>
            <a:r>
              <a:rPr lang="en-US" dirty="0"/>
              <a:t> way to connect, integrate, govern, and deliver data across an enterprise—regardless of where the data lives. Intelligent connective layer that sits on top of all your data systems</a:t>
            </a:r>
          </a:p>
          <a:p>
            <a:r>
              <a:rPr lang="en-US" b="1" dirty="0"/>
              <a:t>		</a:t>
            </a:r>
            <a:r>
              <a:rPr lang="en-US" dirty="0"/>
              <a:t>Integration &amp; Orchestration </a:t>
            </a:r>
          </a:p>
          <a:p>
            <a:r>
              <a:rPr lang="en-IN" dirty="0"/>
              <a:t>                   Automation &amp; AI &amp; Knowledge linked Graph Models  </a:t>
            </a:r>
          </a:p>
          <a:p>
            <a:r>
              <a:rPr lang="en-IN" dirty="0"/>
              <a:t>                            Centralized Data Store </a:t>
            </a:r>
          </a:p>
          <a:p>
            <a:r>
              <a:rPr lang="en-IN" dirty="0"/>
              <a:t>                                     Metadata Driven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569A6D5-768F-B38C-5462-6B952E358D2C}"/>
              </a:ext>
            </a:extLst>
          </p:cNvPr>
          <p:cNvSpPr/>
          <p:nvPr/>
        </p:nvSpPr>
        <p:spPr>
          <a:xfrm>
            <a:off x="698089" y="4631208"/>
            <a:ext cx="766916" cy="225175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90DEB1B-531B-AED3-E551-9594DC590D2C}"/>
              </a:ext>
            </a:extLst>
          </p:cNvPr>
          <p:cNvSpPr/>
          <p:nvPr/>
        </p:nvSpPr>
        <p:spPr>
          <a:xfrm>
            <a:off x="698089" y="4922646"/>
            <a:ext cx="1327355" cy="225175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36FB984-C70D-6EE0-18E9-E8988877299A}"/>
              </a:ext>
            </a:extLst>
          </p:cNvPr>
          <p:cNvSpPr/>
          <p:nvPr/>
        </p:nvSpPr>
        <p:spPr>
          <a:xfrm>
            <a:off x="698089" y="5204734"/>
            <a:ext cx="1789472" cy="202569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lang="en-IN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2141FE1-41FB-017B-05EE-93F28D2AA5F7}"/>
              </a:ext>
            </a:extLst>
          </p:cNvPr>
          <p:cNvSpPr/>
          <p:nvPr/>
        </p:nvSpPr>
        <p:spPr>
          <a:xfrm>
            <a:off x="698089" y="5477731"/>
            <a:ext cx="2231924" cy="233844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lang="en-IN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D6D3851-AC4C-29B3-976C-328D8C9581EC}"/>
              </a:ext>
            </a:extLst>
          </p:cNvPr>
          <p:cNvSpPr/>
          <p:nvPr/>
        </p:nvSpPr>
        <p:spPr>
          <a:xfrm>
            <a:off x="698089" y="2086246"/>
            <a:ext cx="766916" cy="225175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47E057F-BE59-EA7F-48A0-814DB2C5766E}"/>
              </a:ext>
            </a:extLst>
          </p:cNvPr>
          <p:cNvSpPr/>
          <p:nvPr/>
        </p:nvSpPr>
        <p:spPr>
          <a:xfrm>
            <a:off x="690714" y="2338060"/>
            <a:ext cx="1076634" cy="225175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EE6F65C-925B-6E4F-834F-5DAE633A88A6}"/>
              </a:ext>
            </a:extLst>
          </p:cNvPr>
          <p:cNvSpPr/>
          <p:nvPr/>
        </p:nvSpPr>
        <p:spPr>
          <a:xfrm>
            <a:off x="698089" y="2601679"/>
            <a:ext cx="1637073" cy="238052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16BDF75-90B2-4E3C-350E-97446C6A46E3}"/>
              </a:ext>
            </a:extLst>
          </p:cNvPr>
          <p:cNvSpPr/>
          <p:nvPr/>
        </p:nvSpPr>
        <p:spPr>
          <a:xfrm>
            <a:off x="712836" y="2878175"/>
            <a:ext cx="2217177" cy="252904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277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531E4-AB4A-E132-7EB0-AFE707817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30D624-AD1A-6FB1-D0BF-D11DAF474805}"/>
              </a:ext>
            </a:extLst>
          </p:cNvPr>
          <p:cNvSpPr txBox="1"/>
          <p:nvPr/>
        </p:nvSpPr>
        <p:spPr>
          <a:xfrm>
            <a:off x="609600" y="481781"/>
            <a:ext cx="10953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Microsoft Fabric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166B3-B82D-EE6D-E7C1-B3FC1282EDF6}"/>
              </a:ext>
            </a:extLst>
          </p:cNvPr>
          <p:cNvSpPr txBox="1"/>
          <p:nvPr/>
        </p:nvSpPr>
        <p:spPr>
          <a:xfrm>
            <a:off x="245806" y="1366684"/>
            <a:ext cx="117200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Unified tooling and services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Centralized storage – </a:t>
            </a:r>
            <a:r>
              <a:rPr lang="en-US" dirty="0" err="1"/>
              <a:t>Onelake</a:t>
            </a:r>
            <a:r>
              <a:rPr lang="en-US" dirty="0"/>
              <a:t> acts as a </a:t>
            </a:r>
            <a:r>
              <a:rPr lang="en-US" b="1" dirty="0"/>
              <a:t>single data lake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Centralized governance &amp; metadata</a:t>
            </a:r>
          </a:p>
          <a:p>
            <a:endParaRPr lang="en-IN" dirty="0"/>
          </a:p>
          <a:p>
            <a:r>
              <a:rPr lang="en-US" dirty="0"/>
              <a:t>Single-platform, centralized data lake + governance + unified services = MS Fabric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Decentralized </a:t>
            </a:r>
            <a:r>
              <a:rPr lang="en-IN" b="1" dirty="0"/>
              <a:t>workspaces/domains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Treat datasets / semantic models / curated tables as “products” owned by domain teams (data engineers, analysts, domain owners), each with their own governance, lifecycle, and responsibilities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Federated governance model allows central policy enforcement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r>
              <a:rPr lang="en-US" dirty="0"/>
              <a:t>Domain centric, Data Pipeline , Shared Governance  = MS Fabric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7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10B61-65F5-C1A0-3D79-D703170FE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4C3275-FBB3-C7B7-E5C9-625EE769C888}"/>
              </a:ext>
            </a:extLst>
          </p:cNvPr>
          <p:cNvSpPr txBox="1"/>
          <p:nvPr/>
        </p:nvSpPr>
        <p:spPr>
          <a:xfrm>
            <a:off x="469751" y="0"/>
            <a:ext cx="10953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Microsoft Fabric - A unified data and analytics platform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3B53A5-51FC-AED8-D60A-BD0918F29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15" y="662403"/>
            <a:ext cx="11634569" cy="619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9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4CD9C-2BAF-87FB-8D20-90D727962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78A2AE-D814-757E-41D8-9562082843A0}"/>
              </a:ext>
            </a:extLst>
          </p:cNvPr>
          <p:cNvSpPr txBox="1"/>
          <p:nvPr/>
        </p:nvSpPr>
        <p:spPr>
          <a:xfrm>
            <a:off x="609600" y="481781"/>
            <a:ext cx="10953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When should you opt for Fabric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9EA23-CF8B-1B7F-3B5D-D4C5432AA4A3}"/>
              </a:ext>
            </a:extLst>
          </p:cNvPr>
          <p:cNvSpPr txBox="1"/>
          <p:nvPr/>
        </p:nvSpPr>
        <p:spPr>
          <a:xfrm>
            <a:off x="245806" y="1405111"/>
            <a:ext cx="1164139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 need a </a:t>
            </a:r>
            <a:r>
              <a:rPr lang="en-US" sz="2000" i="1" dirty="0"/>
              <a:t>Lakehouse</a:t>
            </a:r>
            <a:r>
              <a:rPr lang="en-US" sz="2000" dirty="0"/>
              <a:t> or </a:t>
            </a:r>
            <a:r>
              <a:rPr lang="en-US" sz="2000" i="1" dirty="0"/>
              <a:t>Delta-based</a:t>
            </a:r>
            <a:r>
              <a:rPr lang="en-US" sz="2000" dirty="0"/>
              <a:t>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Single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Fast and native power bi capability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Fabric allows Power BI to read Delta tables </a:t>
            </a:r>
            <a:r>
              <a:rPr lang="en-US" sz="2000" b="1" dirty="0"/>
              <a:t>directly from the lake</a:t>
            </a:r>
            <a:r>
              <a:rPr lang="en-US" sz="2000" dirty="0"/>
              <a:t> without import or refresh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 love Microsoft and don’t mind building the MS utility stack in organization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 want to reduce data copy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Low Code / No Code ETL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Cloud stickiness is not a matter of concern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Want to move away from On-Prem services like SSIS/SSAS/SSRS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 don’t care about the underlying infrastructure complexities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15320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E4651-0AAB-7C48-6C15-97294A300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13D044-C391-743E-27C8-908A21A00D57}"/>
              </a:ext>
            </a:extLst>
          </p:cNvPr>
          <p:cNvSpPr txBox="1"/>
          <p:nvPr/>
        </p:nvSpPr>
        <p:spPr>
          <a:xfrm>
            <a:off x="157316" y="481781"/>
            <a:ext cx="114054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Integration capabilities with Power BI &amp; Power automate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1541FC-7984-87A8-41DF-3E04346AC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019098"/>
              </p:ext>
            </p:extLst>
          </p:nvPr>
        </p:nvGraphicFramePr>
        <p:xfrm>
          <a:off x="6438993" y="2795772"/>
          <a:ext cx="5437238" cy="2103120"/>
        </p:xfrm>
        <a:graphic>
          <a:graphicData uri="http://schemas.openxmlformats.org/drawingml/2006/table">
            <a:tbl>
              <a:tblPr/>
              <a:tblGrid>
                <a:gridCol w="2718619">
                  <a:extLst>
                    <a:ext uri="{9D8B030D-6E8A-4147-A177-3AD203B41FA5}">
                      <a16:colId xmlns:a16="http://schemas.microsoft.com/office/drawing/2014/main" val="3853151512"/>
                    </a:ext>
                  </a:extLst>
                </a:gridCol>
                <a:gridCol w="2718619">
                  <a:extLst>
                    <a:ext uri="{9D8B030D-6E8A-4147-A177-3AD203B41FA5}">
                      <a16:colId xmlns:a16="http://schemas.microsoft.com/office/drawing/2014/main" val="8343450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4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Workflow Orchestration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You can use Power Automate to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trigger Fabric data pipelines, dataflows, and notebooks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based on external events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2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Data-Driven Actions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The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Data Activator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feature in Fabric allows you to set up conditions and thresholds on your data. Data Activator can automatically trigger a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Power Automate flow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to take immediate action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68631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D23474-970D-E992-2418-6D907EC4F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967029"/>
              </p:ext>
            </p:extLst>
          </p:nvPr>
        </p:nvGraphicFramePr>
        <p:xfrm>
          <a:off x="327321" y="1683808"/>
          <a:ext cx="5425688" cy="4850230"/>
        </p:xfrm>
        <a:graphic>
          <a:graphicData uri="http://schemas.openxmlformats.org/drawingml/2006/table">
            <a:tbl>
              <a:tblPr/>
              <a:tblGrid>
                <a:gridCol w="2712844">
                  <a:extLst>
                    <a:ext uri="{9D8B030D-6E8A-4147-A177-3AD203B41FA5}">
                      <a16:colId xmlns:a16="http://schemas.microsoft.com/office/drawing/2014/main" val="1931626449"/>
                    </a:ext>
                  </a:extLst>
                </a:gridCol>
                <a:gridCol w="2712844">
                  <a:extLst>
                    <a:ext uri="{9D8B030D-6E8A-4147-A177-3AD203B41FA5}">
                      <a16:colId xmlns:a16="http://schemas.microsoft.com/office/drawing/2014/main" val="3692025686"/>
                    </a:ext>
                  </a:extLst>
                </a:gridCol>
              </a:tblGrid>
              <a:tr h="24028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5451" marR="55451" marT="36967" marB="3696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5451" marR="55451" marT="36967" marB="3696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366100"/>
                  </a:ext>
                </a:extLst>
              </a:tr>
              <a:tr h="9056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Native Workload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5451" marR="55451" marT="36967" marB="3696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Power BI is hosted </a:t>
                      </a:r>
                      <a:r>
                        <a:rPr lang="en-US" sz="1200" i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within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the Fabric platform. This means that Fabric is the single environment where you perform data engineering, data warehousing, data science, and finally, data visualization with Power BI.</a:t>
                      </a:r>
                    </a:p>
                  </a:txBody>
                  <a:tcPr marL="55451" marR="55451" marT="36967" marB="3696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008513"/>
                  </a:ext>
                </a:extLst>
              </a:tr>
              <a:tr h="12383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Direct Lake Mode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5451" marR="55451" marT="36967" marB="3696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This is the most significant integration feature. Power BI reports can connect directly to the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OneLake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data (Delta tables in a Lakehouse or Warehouse) without importing, copying, or duplicating data. This delivers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high performance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and provides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near real-time data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for reports.</a:t>
                      </a:r>
                    </a:p>
                  </a:txBody>
                  <a:tcPr marL="55451" marR="55451" marT="36967" marB="3696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49863"/>
                  </a:ext>
                </a:extLst>
              </a:tr>
              <a:tr h="9056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Unified Data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5451" marR="55451" marT="36967" marB="3696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Power BI reports and semantic models consume data directly from the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OneLake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store, ensuring that analysts are always working with the exact same data copy as data engineers and data scientists.</a:t>
                      </a:r>
                    </a:p>
                  </a:txBody>
                  <a:tcPr marL="55451" marR="55451" marT="36967" marB="3696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505130"/>
                  </a:ext>
                </a:extLst>
              </a:tr>
              <a:tr h="9056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Shared Security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5451" marR="55451" marT="36967" marB="3696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Security and governance settings (like sensitivity labels and access control) established in Fabric are automatically enforced when the data is consumed by Power BI.</a:t>
                      </a:r>
                    </a:p>
                  </a:txBody>
                  <a:tcPr marL="55451" marR="55451" marT="36967" marB="3696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251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334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7EFE4-FDDD-E8F6-6697-56EF47AC3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90D5E2-ECDC-A4B4-CB56-22C7B009D6AB}"/>
              </a:ext>
            </a:extLst>
          </p:cNvPr>
          <p:cNvSpPr txBox="1"/>
          <p:nvPr/>
        </p:nvSpPr>
        <p:spPr>
          <a:xfrm>
            <a:off x="609600" y="481781"/>
            <a:ext cx="10953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management capabilities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17524-B190-7CD3-F0E3-5BB83117FD50}"/>
              </a:ext>
            </a:extLst>
          </p:cNvPr>
          <p:cNvSpPr txBox="1"/>
          <p:nvPr/>
        </p:nvSpPr>
        <p:spPr>
          <a:xfrm>
            <a:off x="491613" y="1297858"/>
            <a:ext cx="1153323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Unified Data Storage (</a:t>
            </a:r>
            <a:r>
              <a:rPr lang="en-IN" dirty="0" err="1"/>
              <a:t>OneLake</a:t>
            </a:r>
            <a:r>
              <a:rPr lang="en-IN" dirty="0"/>
              <a:t>)</a:t>
            </a:r>
          </a:p>
          <a:p>
            <a:r>
              <a:rPr lang="en-IN" dirty="0"/>
              <a:t>Data Integration and Ingestion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Mirroring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Factory (ETL/ELT)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Eventstreams</a:t>
            </a:r>
            <a:endParaRPr lang="en-IN" dirty="0"/>
          </a:p>
          <a:p>
            <a:r>
              <a:rPr lang="en-IN" dirty="0"/>
              <a:t>Security and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Integration with Microsoft Purview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Universal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Centralized Administration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Lineage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Sensitivity Labels</a:t>
            </a:r>
          </a:p>
          <a:p>
            <a:r>
              <a:rPr lang="en-IN" dirty="0"/>
              <a:t>Data Quality and Maintenance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Retention Policies: Controls mechanisms to automatically remove data from tables or materialized views based on defined timeframes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Caching Policies: Allows control over which data should be cached to optimize performance for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Monitoring Hub: Provides a single pane of glass to view and troubleshoot all pipelines, data refreshes, and other jobs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7200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40307-0E85-080B-08CF-11EDB0510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D33F28-CEAC-0963-6767-4483C4B79AA6}"/>
              </a:ext>
            </a:extLst>
          </p:cNvPr>
          <p:cNvSpPr txBox="1"/>
          <p:nvPr/>
        </p:nvSpPr>
        <p:spPr>
          <a:xfrm>
            <a:off x="609600" y="481781"/>
            <a:ext cx="10953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Top use cases across domains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F92E1-BAC5-AA78-34F1-3B883069D1E5}"/>
              </a:ext>
            </a:extLst>
          </p:cNvPr>
          <p:cNvSpPr txBox="1"/>
          <p:nvPr/>
        </p:nvSpPr>
        <p:spPr>
          <a:xfrm>
            <a:off x="353961" y="1415845"/>
            <a:ext cx="115824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Data Mesh architecture for managing your supplier information and building a master catalog of its inventory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Real time streaming of sensor data into one lake for anomaly detection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Built in AI/ML for predictive </a:t>
            </a:r>
            <a:r>
              <a:rPr lang="en-IN" sz="2400" dirty="0"/>
              <a:t>maintenance, optimization, forecasting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Copilot integration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A unified financial data model (loans, deposits, cards)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Fraud detection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Unified data platform for data aggregation and consolidation for various source systems like ERP / CRM / Student Management / Course Management / Student Outcomes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0459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5504</TotalTime>
  <Words>845</Words>
  <Application>Microsoft Office PowerPoint</Application>
  <PresentationFormat>Widescreen</PresentationFormat>
  <Paragraphs>126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Google Sans Text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Rajat Somani</dc:creator>
  <cp:lastModifiedBy>Rajat Somani</cp:lastModifiedBy>
  <cp:revision>8</cp:revision>
  <dcterms:created xsi:type="dcterms:W3CDTF">2025-11-23T17:51:36Z</dcterms:created>
  <dcterms:modified xsi:type="dcterms:W3CDTF">2025-12-04T05:08:55Z</dcterms:modified>
</cp:coreProperties>
</file>